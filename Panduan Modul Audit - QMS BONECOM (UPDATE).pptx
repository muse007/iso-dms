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0993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30"/>
          </a:solidFill>
          <a:ln/>
        </p:spPr>
        <p:txBody>
          <a:bodyPr/>
          <a:lstStyle/>
          <a:p>
            <a:endParaRPr lang="en-ID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5" name="Shape 3"/>
          <p:cNvSpPr/>
          <p:nvPr/>
        </p:nvSpPr>
        <p:spPr>
          <a:xfrm>
            <a:off x="9784080" y="0"/>
            <a:ext cx="2404872" cy="6858000"/>
          </a:xfrm>
          <a:prstGeom prst="rect">
            <a:avLst/>
          </a:prstGeom>
          <a:solidFill>
            <a:srgbClr val="242C3A"/>
          </a:solidFill>
          <a:ln/>
        </p:spPr>
      </p:sp>
      <p:sp>
        <p:nvSpPr>
          <p:cNvPr id="6" name="Shape 4"/>
          <p:cNvSpPr/>
          <p:nvPr/>
        </p:nvSpPr>
        <p:spPr>
          <a:xfrm>
            <a:off x="9646920" y="0"/>
            <a:ext cx="54864" cy="6858000"/>
          </a:xfrm>
          <a:prstGeom prst="rect">
            <a:avLst/>
          </a:prstGeom>
          <a:solidFill>
            <a:srgbClr val="B5121B"/>
          </a:solidFill>
          <a:ln/>
        </p:spPr>
      </p:sp>
      <p:pic>
        <p:nvPicPr>
          <p:cNvPr id="7" name="Image 0" descr="C:\Users\itbti\iso-dms\iso-app\public\bti_logo_hi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77240"/>
            <a:ext cx="1737360" cy="107716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423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QMS · SISTEM MANAJEMEN MUTU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788920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822960" y="361188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7B4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 Audit Internal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868680" y="461772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7CC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Alur lengkap: penjadwalan audit, persetujuan, pembuatan &amp; penutupan temuan, serta peran tiap PIC (Auditor, Auditee, Lead Auditor, Atasan, Document Control, QMR).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qms.bonecomtricom.net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 rot="5400000">
            <a:off x="9052560" y="20116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3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TENTANG PANDUAN INI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25400" dir="5400000" algn="bl" rotWithShape="0">
              <a:srgbClr val="BFC3CA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00200"/>
            <a:ext cx="118872" cy="2148840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1892808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B5121B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8928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057400" y="19842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Jadwal Audit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057400" y="246888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Membuat jadwal, approval MR/QMR, dan pembagian oleh Document Control.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160020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25400" dir="5400000" algn="bl" rotWithShape="0">
              <a:srgbClr val="BFC3CA">
                <a:alpha val="3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600200"/>
            <a:ext cx="118872" cy="214884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0" y="1892808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0E749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8928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589520" y="19842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Temuan Audit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589520" y="246888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Membuat temuan, tindakan perbaikan, verifikasi berjenjang, hingga closed.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" y="397764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25400" dir="5400000" algn="bl" rotWithShape="0">
              <a:srgbClr val="BFC3CA">
                <a:alpha val="3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977640"/>
            <a:ext cx="118872" cy="21488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0" name="Shape 18"/>
          <p:cNvSpPr/>
          <p:nvPr/>
        </p:nvSpPr>
        <p:spPr>
          <a:xfrm>
            <a:off x="1051560" y="4270248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42702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2057400" y="43616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Peran tiap PIC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2057400" y="484632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Siapa melakukan apa: Auditor, Auditee, Atasan, Lead Auditor, DC, QMR.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397764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25400" dir="5400000" algn="bl" rotWithShape="0">
              <a:srgbClr val="BFC3CA">
                <a:alpha val="3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3977640"/>
            <a:ext cx="118872" cy="214884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0" y="4270248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15803D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42702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7589520" y="43616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&amp; Fitur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7589520" y="484632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Cetak PDF (FM-BDK-010/011), notifikasi in-app, reminder WhatsApp, hak akses &amp; admin.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00" dirty="0"/>
          </a:p>
        </p:txBody>
      </p:sp>
      <p:pic>
        <p:nvPicPr>
          <p:cNvPr id="33" name="Image 0" descr="C:\Users\itbti\iso-dms\iso-app\public\bti_logo_hires.png">
            <a:extLst>
              <a:ext uri="{FF2B5EF4-FFF2-40B4-BE49-F238E27FC236}">
                <a16:creationId xmlns:a16="http://schemas.microsoft.com/office/drawing/2014/main" id="{D02C56B8-B493-4C3F-1679-09ACEED61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018" y="525780"/>
            <a:ext cx="1281062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SIAPA MELAKUKAN APA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Peran &amp; Tanggung Jawab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25400" dir="5400000" algn="bl" rotWithShape="0">
              <a:srgbClr val="BFC3CA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554480"/>
            <a:ext cx="3520440" cy="91440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1847088"/>
            <a:ext cx="566928" cy="566928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8470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19072" y="186537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24128" y="26060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Membuat temuan audit &amp; verifikasi tahap-1 (Verifikasi &amp; Lanjut ke Lead).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0" y="155448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25400" dir="5400000" algn="bl" rotWithShape="0">
              <a:srgbClr val="BFC3CA">
                <a:alpha val="3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1554480"/>
            <a:ext cx="3520440" cy="9144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4" name="Shape 12"/>
          <p:cNvSpPr/>
          <p:nvPr/>
        </p:nvSpPr>
        <p:spPr>
          <a:xfrm>
            <a:off x="4681728" y="1847088"/>
            <a:ext cx="566928" cy="566928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5" name="Text 13"/>
          <p:cNvSpPr/>
          <p:nvPr/>
        </p:nvSpPr>
        <p:spPr>
          <a:xfrm>
            <a:off x="4681728" y="18470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76672" y="186537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Auditee / PIC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81728" y="26060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Mengisi &amp; submit tindakan perbaikan atas temuan yang ditujukan padanya.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6720" y="155448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25400" dir="5400000" algn="bl" rotWithShape="0">
              <a:srgbClr val="BFC3CA">
                <a:alpha val="3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0" y="1554480"/>
            <a:ext cx="3520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Shape 18"/>
          <p:cNvSpPr/>
          <p:nvPr/>
        </p:nvSpPr>
        <p:spPr>
          <a:xfrm>
            <a:off x="8339328" y="1847088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8339328" y="18470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034272" y="186537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Atasan Auditee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39328" y="26060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 departemen auditee — menyetujui tindakan perbaikan (Minor/Major).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379476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25400" dir="5400000" algn="bl" rotWithShape="0">
              <a:srgbClr val="BFC3CA">
                <a:alpha val="3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3794760"/>
            <a:ext cx="3520440" cy="91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6" name="Shape 24"/>
          <p:cNvSpPr/>
          <p:nvPr/>
        </p:nvSpPr>
        <p:spPr>
          <a:xfrm>
            <a:off x="1024128" y="4087368"/>
            <a:ext cx="566928" cy="56692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7" name="Text 25"/>
          <p:cNvSpPr/>
          <p:nvPr/>
        </p:nvSpPr>
        <p:spPr>
          <a:xfrm>
            <a:off x="1024128" y="40873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719072" y="410565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Auditor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24128" y="48463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Ketua tim audit — verifikasi final &amp; menutup (closed) temuan.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389120" y="379476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25400" dir="5400000" algn="bl" rotWithShape="0">
              <a:srgbClr val="BFC3CA">
                <a:alpha val="3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89120" y="3794760"/>
            <a:ext cx="3520440" cy="9144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2" name="Shape 30"/>
          <p:cNvSpPr/>
          <p:nvPr/>
        </p:nvSpPr>
        <p:spPr>
          <a:xfrm>
            <a:off x="4681728" y="4087368"/>
            <a:ext cx="566928" cy="56692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3" name="Text 31"/>
          <p:cNvSpPr/>
          <p:nvPr/>
        </p:nvSpPr>
        <p:spPr>
          <a:xfrm>
            <a:off x="4681728" y="40873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376672" y="410565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Control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681728" y="48463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Membagikan jadwal audit yang sudah disetujui ke seluruh auditee.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046720" y="379476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25400" dir="5400000" algn="bl" rotWithShape="0">
              <a:srgbClr val="BFC3CA">
                <a:alpha val="3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046720" y="3794760"/>
            <a:ext cx="3520440" cy="9144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8" name="Shape 36"/>
          <p:cNvSpPr/>
          <p:nvPr/>
        </p:nvSpPr>
        <p:spPr>
          <a:xfrm>
            <a:off x="8339328" y="4087368"/>
            <a:ext cx="566928" cy="56692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39" name="Text 37"/>
          <p:cNvSpPr/>
          <p:nvPr/>
        </p:nvSpPr>
        <p:spPr>
          <a:xfrm>
            <a:off x="8339328" y="40873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9034272" y="410565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QMR / MR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339328" y="484632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 Representative — menyetujui / menolak jadwal audit.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pic>
        <p:nvPicPr>
          <p:cNvPr id="45" name="Image 0" descr="C:\Users\itbti\iso-dms\iso-app\public\bti_logo_hires.png">
            <a:extLst>
              <a:ext uri="{FF2B5EF4-FFF2-40B4-BE49-F238E27FC236}">
                <a16:creationId xmlns:a16="http://schemas.microsoft.com/office/drawing/2014/main" id="{1286CBAE-C463-1D25-DEE0-038C30D9F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018" y="525780"/>
            <a:ext cx="1281062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1E243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GAMBARAN MENYELURUH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Peta Alur Modul Audit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1737360" cy="1051560"/>
          </a:xfrm>
          <a:prstGeom prst="roundRect">
            <a:avLst>
              <a:gd name="adj" fmla="val 7826"/>
            </a:avLst>
          </a:prstGeom>
          <a:solidFill>
            <a:srgbClr val="B5121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 A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Jadwal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88920" y="169164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B512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1837944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Buat Jadwal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880360" y="2295144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5121B"/>
                </a:solidFill>
                <a:latin typeface="Segoe UI" pitchFamily="34" charset="0"/>
                <a:cs typeface="Segoe UI" pitchFamily="34" charset="-120"/>
              </a:rPr>
              <a:t>Document Control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64024" y="2093976"/>
            <a:ext cx="301752" cy="256032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12" name="Shape 10"/>
          <p:cNvSpPr/>
          <p:nvPr/>
        </p:nvSpPr>
        <p:spPr>
          <a:xfrm>
            <a:off x="5010912" y="169164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B512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02352" y="1837944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102352" y="2295144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MR / QMR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86016" y="2093976"/>
            <a:ext cx="301752" cy="256032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16" name="Shape 14"/>
          <p:cNvSpPr/>
          <p:nvPr/>
        </p:nvSpPr>
        <p:spPr>
          <a:xfrm>
            <a:off x="7232904" y="169164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B512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24344" y="1837944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 err="1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Bagikan</a:t>
            </a:r>
            <a:r>
              <a:rPr lang="en-US" sz="12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24344" y="2295144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Control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208008" y="2093976"/>
            <a:ext cx="301752" cy="256032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20" name="Shape 18"/>
          <p:cNvSpPr/>
          <p:nvPr/>
        </p:nvSpPr>
        <p:spPr>
          <a:xfrm>
            <a:off x="9454896" y="169164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B512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46336" y="1837944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546336" y="2295144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Auditee terima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" y="3246120"/>
            <a:ext cx="1737360" cy="1051560"/>
          </a:xfrm>
          <a:prstGeom prst="roundRect">
            <a:avLst>
              <a:gd name="adj" fmla="val 7826"/>
            </a:avLst>
          </a:prstGeom>
          <a:solidFill>
            <a:srgbClr val="0E749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24612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 B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Temuan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788920" y="324612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80360" y="3392424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Buat Temuan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880360" y="3849624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64024" y="3648456"/>
            <a:ext cx="301752" cy="256032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29" name="Shape 27"/>
          <p:cNvSpPr/>
          <p:nvPr/>
        </p:nvSpPr>
        <p:spPr>
          <a:xfrm>
            <a:off x="5010912" y="324612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02352" y="3392424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Perbaikan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102352" y="3849624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Auditee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86016" y="3648456"/>
            <a:ext cx="301752" cy="256032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33" name="Shape 31"/>
          <p:cNvSpPr/>
          <p:nvPr/>
        </p:nvSpPr>
        <p:spPr>
          <a:xfrm>
            <a:off x="7232904" y="324612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24344" y="3392424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Verifikasi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324344" y="3849624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208008" y="3648456"/>
            <a:ext cx="301752" cy="256032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37" name="Shape 35"/>
          <p:cNvSpPr/>
          <p:nvPr/>
        </p:nvSpPr>
        <p:spPr>
          <a:xfrm>
            <a:off x="9454896" y="324612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546336" y="3392424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9546336" y="3849624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Auditor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31520" y="4892040"/>
            <a:ext cx="10744200" cy="960120"/>
          </a:xfrm>
          <a:prstGeom prst="roundRect">
            <a:avLst>
              <a:gd name="adj" fmla="val 8571"/>
            </a:avLst>
          </a:prstGeom>
          <a:solidFill>
            <a:srgbClr val="DCFCE7"/>
          </a:solidFill>
          <a:ln w="12700">
            <a:solidFill>
              <a:srgbClr val="A7D8B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5840" y="489204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HASIL AKHIR   </a:t>
            </a:r>
            <a:r>
              <a:rPr lang="en-US" sz="1250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Setiap temuan yang sudah </a:t>
            </a:r>
            <a:r>
              <a:rPr lang="en-US" sz="12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r>
              <a:rPr lang="en-US" sz="1250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dapat dicetak menjadi report PDF resmi </a:t>
            </a:r>
            <a:r>
              <a:rPr lang="en-US" sz="12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FM-BDK-010 (Minor/Major)</a:t>
            </a:r>
            <a:r>
              <a:rPr lang="en-US" sz="1250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atau </a:t>
            </a:r>
            <a:r>
              <a:rPr lang="en-US" sz="12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FM-BDK-011 (PFI).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pic>
        <p:nvPicPr>
          <p:cNvPr id="45" name="Image 0" descr="C:\Users\itbti\iso-dms\iso-app\public\bti_logo_hires.png">
            <a:extLst>
              <a:ext uri="{FF2B5EF4-FFF2-40B4-BE49-F238E27FC236}">
                <a16:creationId xmlns:a16="http://schemas.microsoft.com/office/drawing/2014/main" id="{59E00D29-356A-217B-E2F1-9A711E367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018" y="525780"/>
            <a:ext cx="1281062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331720"/>
            <a:ext cx="2194560" cy="2194560"/>
          </a:xfrm>
          <a:prstGeom prst="roundRect">
            <a:avLst>
              <a:gd name="adj" fmla="val 6667"/>
            </a:avLst>
          </a:prstGeom>
          <a:solidFill>
            <a:srgbClr val="B5121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3520440" y="2514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BAGIAN 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28803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Jadwal Audit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20440" y="397764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CC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Dari pembuatan jadwal, persetujuan Management Representative, hingga dibagikan Document Control ke seluruh auditee.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BAGIAN A · LANGKAH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Membuat Jadwal Audit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1371600"/>
            <a:ext cx="91440" cy="274320"/>
          </a:xfrm>
          <a:prstGeom prst="roundRect">
            <a:avLst>
              <a:gd name="adj" fmla="val 150000"/>
            </a:avLst>
          </a:prstGeom>
          <a:solidFill>
            <a:srgbClr val="B5121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7160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58952" y="1371600"/>
            <a:ext cx="4846320" cy="384048"/>
          </a:xfrm>
          <a:prstGeom prst="roundRect">
            <a:avLst>
              <a:gd name="adj" fmla="val 47619"/>
            </a:avLst>
          </a:prstGeom>
          <a:solidFill>
            <a:srgbClr val="B5121B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37160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PELAKU:  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 / Admin (punya izin audit.create)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1965960"/>
            <a:ext cx="420624" cy="420624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193852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Buka menu Audits → klik tombol "Jadwal Baru".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63040" y="2267712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Tombol hanya tampil bagi user yang role-nya memiliki izin audit.create.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2862072"/>
            <a:ext cx="420624" cy="420624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8620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28346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Isi header jadwal (1× untuk seluruh jadwal): Periode, Standar, Tipe, Lead Auditor, Scope, Jadwal Opening/Closing.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22960" y="3465576"/>
            <a:ext cx="420624" cy="420624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4655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3438144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Tambah baris per bagian: Departemen, tanggal, jam, Tim Auditor, Auditee (PIC), proses.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463040" y="3767328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Setiap baris menjadi satu Audit di dalam jadwal.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4361688"/>
            <a:ext cx="420624" cy="420624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3616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3040" y="4334256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Simpan → jadwal berstatus PENDING REVIEW, menunggu approval Management Representative.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77240" y="5623560"/>
            <a:ext cx="10652760" cy="65836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5623560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Catatan:  </a:t>
            </a:r>
            <a:r>
              <a:rPr lang="en-US" sz="11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Jika tombol "Jadwal Baru" tidak muncul, minta admin mengaktifkan izin audit.create untuk role Anda di menu Role &amp; Permission.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pic>
        <p:nvPicPr>
          <p:cNvPr id="29" name="Image 0" descr="C:\Users\itbti\iso-dms\iso-app\public\bti_logo_hires.png">
            <a:extLst>
              <a:ext uri="{FF2B5EF4-FFF2-40B4-BE49-F238E27FC236}">
                <a16:creationId xmlns:a16="http://schemas.microsoft.com/office/drawing/2014/main" id="{511D8B1E-397E-3744-1604-C26542D7C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018" y="525780"/>
            <a:ext cx="1281062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BAGIAN A · LANGKAH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Jadwal oleh MR / QMR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1371600"/>
            <a:ext cx="91440" cy="274320"/>
          </a:xfrm>
          <a:prstGeom prst="roundRect">
            <a:avLst>
              <a:gd name="adj" fmla="val 150000"/>
            </a:avLst>
          </a:prstGeom>
          <a:solidFill>
            <a:srgbClr val="B5121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7160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58952" y="1371600"/>
            <a:ext cx="4846320" cy="384048"/>
          </a:xfrm>
          <a:prstGeom prst="roundRect">
            <a:avLst>
              <a:gd name="adj" fmla="val 47619"/>
            </a:avLst>
          </a:prstGeom>
          <a:solidFill>
            <a:srgbClr val="B5121B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37160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PELAKU:  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QMR / Management Representative (atau super_admin)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1965960"/>
            <a:ext cx="420624" cy="420624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193852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Buka jadwal berstatus Pending Review dari daftar Audit / Approval.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2569464"/>
            <a:ext cx="420624" cy="420624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5694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254203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Tinjau isi jadwal (periode, lead auditor, tim, auditee, tanggal).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22960" y="3172968"/>
            <a:ext cx="420624" cy="420624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1729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145536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Klik SETUJUI untuk menyetujui → status menjadi APPROVED, atau TOLAK bila perlu revisi.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63040" y="3474720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Hanya QMR / super_admin yang dapat menyetujui jadwal.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4069080"/>
            <a:ext cx="420624" cy="420624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0690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404164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Jadwal yang sudah approved siap dibagikan oleh Document Control.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777240" y="5623560"/>
            <a:ext cx="10652760" cy="65836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623560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Catatan:  </a:t>
            </a:r>
            <a:r>
              <a:rPr lang="en-US" sz="11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Selama masih Pending Review, jadwal masih dapat diedit oleh pembuatnya sebelum disetujui.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000" dirty="0"/>
          </a:p>
        </p:txBody>
      </p:sp>
      <p:pic>
        <p:nvPicPr>
          <p:cNvPr id="28" name="Image 0" descr="C:\Users\itbti\iso-dms\iso-app\public\bti_logo_hires.png">
            <a:extLst>
              <a:ext uri="{FF2B5EF4-FFF2-40B4-BE49-F238E27FC236}">
                <a16:creationId xmlns:a16="http://schemas.microsoft.com/office/drawing/2014/main" id="{CA40EB83-EA80-C05A-148E-539456360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018" y="525780"/>
            <a:ext cx="1281062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BAGIAN A · LANGKAH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Membagikan Jadwal — Document Control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1371600"/>
            <a:ext cx="91440" cy="274320"/>
          </a:xfrm>
          <a:prstGeom prst="roundRect">
            <a:avLst>
              <a:gd name="adj" fmla="val 150000"/>
            </a:avLst>
          </a:prstGeom>
          <a:solidFill>
            <a:srgbClr val="B5121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7160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58952" y="1371600"/>
            <a:ext cx="4846320" cy="384048"/>
          </a:xfrm>
          <a:prstGeom prst="roundRect">
            <a:avLst>
              <a:gd name="adj" fmla="val 47619"/>
            </a:avLst>
          </a:prstGeom>
          <a:solidFill>
            <a:srgbClr val="B5121B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37160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PELAKU:  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Control (atau super_admin)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1965960"/>
            <a:ext cx="420624" cy="420624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193852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Buka jadwal berstatus Approved.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2569464"/>
            <a:ext cx="420624" cy="420624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5694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254203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Klik BAGIKAN → sistem mengirim email pemberitahuan ke seluruh auditee &amp; tim terkait.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463040" y="2871216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jadwal berubah menjadi SHARED.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3465576"/>
            <a:ext cx="420624" cy="420624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4655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3438144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Gunakan KIRIM ULANG bila ada perubahan atau email perlu dikirim kembali.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22960" y="4069080"/>
            <a:ext cx="420624" cy="420624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0690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404164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Jadwal juga dapat dicetak PDF (FM-BDK-07) melalui Preview PDF.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777240" y="5623560"/>
            <a:ext cx="10652760" cy="65836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623560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Catatan:  </a:t>
            </a:r>
            <a:r>
              <a:rPr lang="en-US" sz="11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Hanya Document Control / super_admin yang dapat membagikan &amp; mengirim ulang jadwal.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000" dirty="0"/>
          </a:p>
        </p:txBody>
      </p:sp>
      <p:pic>
        <p:nvPicPr>
          <p:cNvPr id="28" name="Image 0" descr="C:\Users\itbti\iso-dms\iso-app\public\bti_logo_hires.png">
            <a:extLst>
              <a:ext uri="{FF2B5EF4-FFF2-40B4-BE49-F238E27FC236}">
                <a16:creationId xmlns:a16="http://schemas.microsoft.com/office/drawing/2014/main" id="{CEF459E3-974B-6142-B063-0EE8F7AC1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018" y="525780"/>
            <a:ext cx="1281062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BAGIAN A · RINGKASAN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Alur &amp; Status Jadwal Audit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3063240" cy="1554480"/>
          </a:xfrm>
          <a:prstGeom prst="roundRect">
            <a:avLst>
              <a:gd name="adj" fmla="val 5294"/>
            </a:avLst>
          </a:prstGeom>
          <a:solidFill>
            <a:srgbClr val="FEF3C7"/>
          </a:solidFill>
          <a:ln w="12700">
            <a:solidFill>
              <a:srgbClr val="E4E6EA"/>
            </a:solidFill>
            <a:prstDash val="solid"/>
          </a:ln>
          <a:effectLst>
            <a:outerShdw blurRad="88900" dist="25400" dir="5400000" algn="bl" rotWithShape="0">
              <a:srgbClr val="BFC3CA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606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REVIEW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31546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Dibuat, menunggu approval MR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904488" y="2926080"/>
            <a:ext cx="329184" cy="274320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10" name="Shape 8"/>
          <p:cNvSpPr/>
          <p:nvPr/>
        </p:nvSpPr>
        <p:spPr>
          <a:xfrm>
            <a:off x="4251960" y="2286000"/>
            <a:ext cx="3063240" cy="1554480"/>
          </a:xfrm>
          <a:prstGeom prst="roundRect">
            <a:avLst>
              <a:gd name="adj" fmla="val 5294"/>
            </a:avLst>
          </a:prstGeom>
          <a:solidFill>
            <a:srgbClr val="E4ECFE"/>
          </a:solidFill>
          <a:ln w="12700">
            <a:solidFill>
              <a:srgbClr val="E4E6EA"/>
            </a:solidFill>
            <a:prstDash val="solid"/>
          </a:ln>
          <a:effectLst>
            <a:outerShdw blurRad="88900" dist="25400" dir="5400000" algn="bl" rotWithShape="0">
              <a:srgbClr val="BFC3CA">
                <a:alpha val="3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51960" y="2606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34840" y="31546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Disetujui QMR / MR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33488" y="2926080"/>
            <a:ext cx="329184" cy="274320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14" name="Shape 12"/>
          <p:cNvSpPr/>
          <p:nvPr/>
        </p:nvSpPr>
        <p:spPr>
          <a:xfrm>
            <a:off x="7680960" y="2286000"/>
            <a:ext cx="3063240" cy="1554480"/>
          </a:xfrm>
          <a:prstGeom prst="roundRect">
            <a:avLst>
              <a:gd name="adj" fmla="val 5294"/>
            </a:avLst>
          </a:prstGeom>
          <a:solidFill>
            <a:srgbClr val="DCFCE7"/>
          </a:solidFill>
          <a:ln w="12700">
            <a:solidFill>
              <a:srgbClr val="E4E6EA"/>
            </a:solidFill>
            <a:prstDash val="solid"/>
          </a:ln>
          <a:effectLst>
            <a:outerShdw blurRad="88900" dist="25400" dir="5400000" algn="bl" rotWithShape="0">
              <a:srgbClr val="BFC3CA">
                <a:alpha val="3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680960" y="2606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863840" y="31546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Dibagikan Document Control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4297680"/>
            <a:ext cx="10515600" cy="13716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Alternatif: REJECTED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846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Jika MR menolak jadwal, status menjadi Rejected. Pembuat memperbaiki jadwal lalu mengajukan kembali untuk approval.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000" dirty="0"/>
          </a:p>
        </p:txBody>
      </p:sp>
      <p:pic>
        <p:nvPicPr>
          <p:cNvPr id="23" name="Image 0" descr="C:\Users\itbti\iso-dms\iso-app\public\bti_logo_hires.png">
            <a:extLst>
              <a:ext uri="{FF2B5EF4-FFF2-40B4-BE49-F238E27FC236}">
                <a16:creationId xmlns:a16="http://schemas.microsoft.com/office/drawing/2014/main" id="{ADCF259B-3A8D-4215-1001-17926AD57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018" y="525780"/>
            <a:ext cx="1281062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BAGIAN A · HAK AKSES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Siapa</a:t>
            </a: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b="1" dirty="0" err="1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Melihat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950056"/>
              </p:ext>
            </p:extLst>
          </p:nvPr>
        </p:nvGraphicFramePr>
        <p:xfrm>
          <a:off x="731520" y="1600200"/>
          <a:ext cx="10744200" cy="2999232"/>
        </p:xfrm>
        <a:graphic>
          <a:graphicData uri="http://schemas.openxmlformats.org/drawingml/2006/table">
            <a:tbl>
              <a:tblPr/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Peran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Jadwal yang terlihat di halaman Audits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QMR / Doc. Control / Lead Auditor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Semua jadwal audit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Auditor (lead/tim di suatu jadwal)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Seluruh bagian jadwal yang ia ikuti + audit departemennya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Auditee (lainnya)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Hanya audit departemennya sendiri / yang menunjuk dirinya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4800600"/>
            <a:ext cx="10744200" cy="914400"/>
          </a:xfrm>
          <a:prstGeom prst="roundRect">
            <a:avLst>
              <a:gd name="adj" fmla="val 9000"/>
            </a:avLst>
          </a:prstGeom>
          <a:solidFill>
            <a:srgbClr val="FBE9EA"/>
          </a:solidFill>
          <a:ln w="12700">
            <a:solidFill>
              <a:srgbClr val="E3AE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480060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Hapus jadwal:  </a:t>
            </a:r>
            <a:r>
              <a:rPr lang="en-US" sz="1200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tombol Hapus pada daftar jadwal hanya tersedia bagi </a:t>
            </a:r>
            <a:r>
              <a:rPr lang="en-US" sz="12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Control &amp; Administrator</a:t>
            </a:r>
            <a:r>
              <a:rPr lang="en-US" sz="1200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(menghapus jadwal ikut menghapus temuan di dalamnya).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000" dirty="0"/>
          </a:p>
        </p:txBody>
      </p:sp>
      <p:pic>
        <p:nvPicPr>
          <p:cNvPr id="12" name="Image 0" descr="C:\Users\itbti\iso-dms\iso-app\public\bti_logo_hires.png">
            <a:extLst>
              <a:ext uri="{FF2B5EF4-FFF2-40B4-BE49-F238E27FC236}">
                <a16:creationId xmlns:a16="http://schemas.microsoft.com/office/drawing/2014/main" id="{351900FC-8EAF-0046-60ED-1EAD6948F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018" y="525780"/>
            <a:ext cx="1281062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3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331720"/>
            <a:ext cx="2194560" cy="2194560"/>
          </a:xfrm>
          <a:prstGeom prst="roundRect">
            <a:avLst>
              <a:gd name="adj" fmla="val 6667"/>
            </a:avLst>
          </a:prstGeom>
          <a:solidFill>
            <a:srgbClr val="0E74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3520440" y="2514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BAGIAN 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28803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Temuan Audit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20440" y="397764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CC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Membuat temuan, mengisi tindakan perbaikan, verifikasi berjenjang oleh Atasan → Auditor → Lead Auditor, hingga temuan ditutup (closed).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BAGIAN B · LANGKAH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Membuat Temuan Audit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1371600"/>
            <a:ext cx="91440" cy="274320"/>
          </a:xfrm>
          <a:prstGeom prst="roundRect">
            <a:avLst>
              <a:gd name="adj" fmla="val 150000"/>
            </a:avLst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7160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58952" y="1371600"/>
            <a:ext cx="4846320" cy="384048"/>
          </a:xfrm>
          <a:prstGeom prst="roundRect">
            <a:avLst>
              <a:gd name="adj" fmla="val 47619"/>
            </a:avLst>
          </a:prstGeom>
          <a:solidFill>
            <a:srgbClr val="0E7490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37160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PELAKU:  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 (Lead Auditor atau anggota Tim Audit)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1965960"/>
            <a:ext cx="420624" cy="42062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193852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Buka audit terkait → klik "Tambah Temuan".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463040" y="2267712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Tombol hanya untuk auditor audit tersebut (lead atau tim).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697480"/>
            <a:ext cx="420624" cy="42062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6974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267004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Isi semua kolom WAJIB: Kategori, Klausul, PIC Auditee, dan Due Date.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463040" y="2999232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Keempatnya kini wajib — bertanda * dan divalidasi sistem.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3429000"/>
            <a:ext cx="420624" cy="42062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4290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340156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Tulis Deskripsi temuan &amp; lampirkan evidence.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463040" y="3730752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 Auditee = satu-satunya orang yang berhak mengisi tindakan perbaikan.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4160520"/>
            <a:ext cx="420624" cy="42062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1605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63040" y="413308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Simpan → temuan berstatus OPEN, menunggu tindakan perbaikan Auditee.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22960" y="4690872"/>
            <a:ext cx="420624" cy="42062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6908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63040" y="46634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Selama Auditee BELUM submit, auditor dapat EDIT atau HAPUS temuan.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463040" y="4992624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Tombol Edit/Hapus otomatis hilang setelah auditee submit.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" y="5623560"/>
            <a:ext cx="10652760" cy="65836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5623560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Catatan:  </a:t>
            </a:r>
            <a:r>
              <a:rPr lang="en-US" sz="11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Kategori, Klausul, PIC Auditee &amp; Due Date wajib. Due Date yang Anda tetapkan akan dipakai sepanjang proses perbaikan.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  <p:pic>
        <p:nvPicPr>
          <p:cNvPr id="34" name="Image 0" descr="C:\Users\itbti\iso-dms\iso-app\public\bti_logo_hires.png">
            <a:extLst>
              <a:ext uri="{FF2B5EF4-FFF2-40B4-BE49-F238E27FC236}">
                <a16:creationId xmlns:a16="http://schemas.microsoft.com/office/drawing/2014/main" id="{292BE2CD-BAF4-4701-47F3-79915E1FB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018" y="525780"/>
            <a:ext cx="1281062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BAGIAN B · PENTING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PFI vs Minor / Major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10744200" cy="4224528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Aspek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PFI (Opportunity)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Minor / Major NC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12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Sifat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Saran perbaikan (peluang)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Ketidaksesuaian yang wajib dikoreksi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Analysis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Tidak perlu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Wajib (3–5 akar masalah)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Action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Tidak perlu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Wajib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Approval Atasan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Tidak perlu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Wajib (Manager auditee)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Alur setelah submit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Langsung ke Verifikasi Auditor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Approval Atasan → Verifikasi Auditor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Report PDF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FM-BDK-011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FM-BDK-010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000" dirty="0"/>
          </a:p>
        </p:txBody>
      </p:sp>
      <p:pic>
        <p:nvPicPr>
          <p:cNvPr id="9" name="Image 0" descr="C:\Users\itbti\iso-dms\iso-app\public\bti_logo_hires.png">
            <a:extLst>
              <a:ext uri="{FF2B5EF4-FFF2-40B4-BE49-F238E27FC236}">
                <a16:creationId xmlns:a16="http://schemas.microsoft.com/office/drawing/2014/main" id="{D360671D-9BFD-6A4E-4E48-ED8DB775D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018" y="525780"/>
            <a:ext cx="1281062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BAGIAN B · LANGKAH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Auditee Mengisi Tindakan Perbaikan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1371600"/>
            <a:ext cx="91440" cy="274320"/>
          </a:xfrm>
          <a:prstGeom prst="roundRect">
            <a:avLst>
              <a:gd name="adj" fmla="val 150000"/>
            </a:avLst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7160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58952" y="1371600"/>
            <a:ext cx="4846320" cy="384048"/>
          </a:xfrm>
          <a:prstGeom prst="roundRect">
            <a:avLst>
              <a:gd name="adj" fmla="val 47619"/>
            </a:avLst>
          </a:prstGeom>
          <a:solidFill>
            <a:srgbClr val="0E7490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37160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PELAKU:  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Auditee / PIC (pemilik temuan)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1965960"/>
            <a:ext cx="420624" cy="42062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193852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Buka halaman temuan → panel "Tindakan Perbaikan".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463040" y="2267712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Hanya PIC Auditee yang dapat mengisi &amp; submit (yang lain read-only).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697480"/>
            <a:ext cx="420624" cy="42062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6974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267004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PFI: cukup isi Corrective Action + evidence → submit.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" y="3227832"/>
            <a:ext cx="420624" cy="42062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2278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320040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Minor/Major: isi Root Cause (3–5) + Corrective Action + Preventive Action + evidence.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22960" y="3758184"/>
            <a:ext cx="420624" cy="42062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758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373075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Kolom Due Date bersifat read-only — mengikuti tanggal yang ditetapkan Auditor.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463040" y="4059936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Auditee tidak dapat mengubah Due Date.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" y="4489704"/>
            <a:ext cx="420624" cy="42062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4897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63040" y="446227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→ PFI ke Verifikasi Auditor; Minor/Major ke Approval Atasan.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463040" y="4791456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Jika dikembalikan, baca banner "Catatan Revisi" lalu submit ulang.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7240" y="5623560"/>
            <a:ext cx="10652760" cy="65836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5623560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Catatan:  </a:t>
            </a:r>
            <a:r>
              <a:rPr lang="en-US" sz="11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hanya bisa diisi saat status Open / In Progress / Rejected. Setelah disubmit menjadi read-only.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000" dirty="0"/>
          </a:p>
        </p:txBody>
      </p:sp>
      <p:pic>
        <p:nvPicPr>
          <p:cNvPr id="33" name="Image 0" descr="C:\Users\itbti\iso-dms\iso-app\public\bti_logo_hires.png">
            <a:extLst>
              <a:ext uri="{FF2B5EF4-FFF2-40B4-BE49-F238E27FC236}">
                <a16:creationId xmlns:a16="http://schemas.microsoft.com/office/drawing/2014/main" id="{6E8A7390-AAD2-7491-BAE7-8B07F7B5A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018" y="525780"/>
            <a:ext cx="1281062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BAGIAN B · LANGKAH 3 (MINOR/MAJOR)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Atasan Auditee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1371600"/>
            <a:ext cx="91440" cy="274320"/>
          </a:xfrm>
          <a:prstGeom prst="roundRect">
            <a:avLst>
              <a:gd name="adj" fmla="val 15000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7160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58952" y="1371600"/>
            <a:ext cx="4846320" cy="384048"/>
          </a:xfrm>
          <a:prstGeom prst="roundRect">
            <a:avLst>
              <a:gd name="adj" fmla="val 47619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37160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PELAKU:  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Atasan Auditee = Manager departemen auditee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1965960"/>
            <a:ext cx="420624" cy="42062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193852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Temuan Minor/Major yang disubmit masuk status WAITING APPROVAL.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63040" y="2267712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Approver otomatis = Manager departemen si auditee.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2862072"/>
            <a:ext cx="420624" cy="42062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8620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28346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Buka temuan → panel Approval → tinjau root cause &amp; tindakan perbaikan.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22960" y="3465576"/>
            <a:ext cx="420624" cy="42062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4655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3438144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Klik SETUJUI → lanjut ke Verifikasi Auditor.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22960" y="4069080"/>
            <a:ext cx="420624" cy="42062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0690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404164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Atau MINTA REVISI dengan catatan → temuan kembali ke Auditee (In Progress).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63040" y="4370832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Catatan revisi otomatis tampil ke auditee.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77240" y="5623560"/>
            <a:ext cx="10652760" cy="658368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5623560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Catatan:  </a:t>
            </a:r>
            <a:r>
              <a:rPr lang="en-US" sz="11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Agar approver terisi, pastikan Auditee punya Departemen dan departemen tsb punya Manager (menu Departments).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000" dirty="0"/>
          </a:p>
        </p:txBody>
      </p:sp>
      <p:pic>
        <p:nvPicPr>
          <p:cNvPr id="29" name="Image 0" descr="C:\Users\itbti\iso-dms\iso-app\public\bti_logo_hires.png">
            <a:extLst>
              <a:ext uri="{FF2B5EF4-FFF2-40B4-BE49-F238E27FC236}">
                <a16:creationId xmlns:a16="http://schemas.microsoft.com/office/drawing/2014/main" id="{D35127FD-BD73-AA49-4A19-7E8994000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018" y="525780"/>
            <a:ext cx="1281062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BAGIAN B · LANGKAH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Verifikasi Auditor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1371600"/>
            <a:ext cx="91440" cy="274320"/>
          </a:xfrm>
          <a:prstGeom prst="roundRect">
            <a:avLst>
              <a:gd name="adj" fmla="val 150000"/>
            </a:avLst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7160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58952" y="1371600"/>
            <a:ext cx="4846320" cy="384048"/>
          </a:xfrm>
          <a:prstGeom prst="roundRect">
            <a:avLst>
              <a:gd name="adj" fmla="val 47619"/>
            </a:avLst>
          </a:prstGeom>
          <a:solidFill>
            <a:srgbClr val="0E7490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37160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PELAKU:  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 pembuat temuan (fallback: Lead Auditor)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1965960"/>
            <a:ext cx="420624" cy="42062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193852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Setelah disetujui, temuan masuk WAITING AUDITOR VERIFICATION.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2569464"/>
            <a:ext cx="420624" cy="42062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5694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254203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 meninjau bukti perbaikan yang diunggah auditee.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22960" y="3172968"/>
            <a:ext cx="420624" cy="42062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1729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145536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Klik "VERIFIKASI &amp; LANJUT KE LEAD" → status WAITING VERIFICATION (Lead).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22960" y="3776472"/>
            <a:ext cx="420624" cy="42062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7764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63040" y="37490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Atau MINTA REVISI dengan catatan → kembali ke Auditee untuk diperbaiki.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77240" y="5623560"/>
            <a:ext cx="10652760" cy="65836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623560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Catatan:  </a:t>
            </a:r>
            <a:r>
              <a:rPr lang="en-US" sz="11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Tahap ini konfirmasi lapangan oleh auditor sebelum keputusan akhir Lead Auditor.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000" dirty="0"/>
          </a:p>
        </p:txBody>
      </p:sp>
      <p:pic>
        <p:nvPicPr>
          <p:cNvPr id="27" name="Image 0" descr="C:\Users\itbti\iso-dms\iso-app\public\bti_logo_hires.png">
            <a:extLst>
              <a:ext uri="{FF2B5EF4-FFF2-40B4-BE49-F238E27FC236}">
                <a16:creationId xmlns:a16="http://schemas.microsoft.com/office/drawing/2014/main" id="{D666E86B-0738-F9FB-F769-F655067B1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018" y="525780"/>
            <a:ext cx="1281062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BAGIAN B · LANGKAH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Verifikasi Lead Auditor → Closed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1371600"/>
            <a:ext cx="91440" cy="274320"/>
          </a:xfrm>
          <a:prstGeom prst="roundRect">
            <a:avLst>
              <a:gd name="adj" fmla="val 150000"/>
            </a:avLst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7160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58952" y="1371600"/>
            <a:ext cx="4846320" cy="384048"/>
          </a:xfrm>
          <a:prstGeom prst="roundRect">
            <a:avLst>
              <a:gd name="adj" fmla="val 47619"/>
            </a:avLst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37160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PELAKU:  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Auditor (Audit Team Leader)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1965960"/>
            <a:ext cx="420624" cy="42062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193852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Temuan berstatus WAITING VERIFICATION masuk ke Lead Auditor.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2569464"/>
            <a:ext cx="420624" cy="42062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5694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254203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Tinjau keseluruhan: temuan, akar masalah, perbaikan, &amp; verifikasi auditor.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22960" y="3172968"/>
            <a:ext cx="420624" cy="42062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1729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145536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Klik "VERIFIED &amp; CLOSED" → temuan resmi CLOSED.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63040" y="3474720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 keputusan akhir; temuan dianggap selesai.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4069080"/>
            <a:ext cx="420624" cy="42062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0690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404164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Atau MINTA REVISI bila belum memadai → kembali ke Auditee.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777240" y="5623560"/>
            <a:ext cx="10652760" cy="65836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623560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Catatan:  </a:t>
            </a:r>
            <a:r>
              <a:rPr lang="en-US" sz="11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Idealnya Atasan (approver) dan Lead Auditor adalah orang berbeda demi pemisahan tugas.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000" dirty="0"/>
          </a:p>
        </p:txBody>
      </p:sp>
      <p:pic>
        <p:nvPicPr>
          <p:cNvPr id="28" name="Image 0" descr="C:\Users\itbti\iso-dms\iso-app\public\bti_logo_hires.png">
            <a:extLst>
              <a:ext uri="{FF2B5EF4-FFF2-40B4-BE49-F238E27FC236}">
                <a16:creationId xmlns:a16="http://schemas.microsoft.com/office/drawing/2014/main" id="{B6B4B08A-5735-E723-281C-3C3F1E111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018" y="525780"/>
            <a:ext cx="1281062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BAGIAN B · RINGKASAN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Alur &amp; Status Temuan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2103120"/>
            <a:ext cx="1709928" cy="1417320"/>
          </a:xfrm>
          <a:prstGeom prst="roundRect">
            <a:avLst>
              <a:gd name="adj" fmla="val 5806"/>
            </a:avLst>
          </a:prstGeom>
          <a:solidFill>
            <a:srgbClr val="F5F6F8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2249424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50392" y="2926080"/>
            <a:ext cx="15636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Temuan dibuat auditor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68880" y="2670048"/>
            <a:ext cx="146304" cy="219456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0" y="2103120"/>
            <a:ext cx="1709928" cy="1417320"/>
          </a:xfrm>
          <a:prstGeom prst="roundRect">
            <a:avLst>
              <a:gd name="adj" fmla="val 5806"/>
            </a:avLst>
          </a:prstGeom>
          <a:solidFill>
            <a:srgbClr val="FEF3C7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15184" y="2249424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33472" y="2926080"/>
            <a:ext cx="15636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Auditee mengisi perbaikan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51960" y="2670048"/>
            <a:ext cx="146304" cy="219456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2103120"/>
            <a:ext cx="1709928" cy="1417320"/>
          </a:xfrm>
          <a:prstGeom prst="roundRect">
            <a:avLst>
              <a:gd name="adj" fmla="val 5806"/>
            </a:avLst>
          </a:prstGeom>
          <a:solidFill>
            <a:srgbClr val="FEF3C7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98264" y="2249424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WAITING APPROVAL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16552" y="2926080"/>
            <a:ext cx="15636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Menunggu Atasan (Minor/Major)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35040" y="2670048"/>
            <a:ext cx="146304" cy="219456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2103120"/>
            <a:ext cx="1709928" cy="1417320"/>
          </a:xfrm>
          <a:prstGeom prst="roundRect">
            <a:avLst>
              <a:gd name="adj" fmla="val 5806"/>
            </a:avLst>
          </a:prstGeom>
          <a:solidFill>
            <a:srgbClr val="E4ECFE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81344" y="2249424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WAITING AUDITOR VERIF.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99632" y="2926080"/>
            <a:ext cx="15636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Menunggu Auditor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818120" y="2670048"/>
            <a:ext cx="146304" cy="219456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22" name="Shape 20"/>
          <p:cNvSpPr/>
          <p:nvPr/>
        </p:nvSpPr>
        <p:spPr>
          <a:xfrm>
            <a:off x="7909560" y="2103120"/>
            <a:ext cx="1709928" cy="1417320"/>
          </a:xfrm>
          <a:prstGeom prst="roundRect">
            <a:avLst>
              <a:gd name="adj" fmla="val 5806"/>
            </a:avLst>
          </a:prstGeom>
          <a:solidFill>
            <a:srgbClr val="E4ECFE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64424" y="2249424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WAITING VERIFICATION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82712" y="2926080"/>
            <a:ext cx="15636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Menunggu Lead Auditor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601200" y="2670048"/>
            <a:ext cx="146304" cy="219456"/>
          </a:xfrm>
          <a:prstGeom prst="rightArrow">
            <a:avLst/>
          </a:prstGeom>
          <a:solidFill>
            <a:srgbClr val="9AA1AC"/>
          </a:solidFill>
          <a:ln/>
        </p:spPr>
      </p:sp>
      <p:sp>
        <p:nvSpPr>
          <p:cNvPr id="26" name="Shape 24"/>
          <p:cNvSpPr/>
          <p:nvPr/>
        </p:nvSpPr>
        <p:spPr>
          <a:xfrm>
            <a:off x="9692640" y="2103120"/>
            <a:ext cx="1709928" cy="1417320"/>
          </a:xfrm>
          <a:prstGeom prst="roundRect">
            <a:avLst>
              <a:gd name="adj" fmla="val 5806"/>
            </a:avLst>
          </a:prstGeom>
          <a:solidFill>
            <a:srgbClr val="DCFCE7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47504" y="2249424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765792" y="2926080"/>
            <a:ext cx="15636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Selesai &amp; bisa cetak PDF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77240" y="3977640"/>
            <a:ext cx="10652760" cy="1600200"/>
          </a:xfrm>
          <a:prstGeom prst="roundRect">
            <a:avLst>
              <a:gd name="adj" fmla="val 5143"/>
            </a:avLst>
          </a:prstGeom>
          <a:solidFill>
            <a:srgbClr val="F5F6F8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4160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 setiap tahap verifikasi/approval tersedia tombol "Minta Revisi".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51560" y="457200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r>
              <a:rPr lang="en-US" sz="12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Minta Revisi </a:t>
            </a:r>
            <a:r>
              <a:rPr lang="en-US" sz="12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mengembalikan temuan ke status In Progress dengan catatan alasan yang otomatis tampil ke auditee (banner Catatan Revisi).
</a:t>
            </a:r>
            <a:r>
              <a:rPr lang="en-US" sz="120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r>
              <a:rPr lang="en-US" sz="12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 </a:t>
            </a:r>
            <a:r>
              <a:rPr lang="en-US" sz="12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menandai temuan Rejected. Semua aksi tercatat pada Log Aktivitas / Riwayat Revisi.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000" dirty="0"/>
          </a:p>
        </p:txBody>
      </p:sp>
      <p:pic>
        <p:nvPicPr>
          <p:cNvPr id="35" name="Image 0" descr="C:\Users\itbti\iso-dms\iso-app\public\bti_logo_hires.png">
            <a:extLst>
              <a:ext uri="{FF2B5EF4-FFF2-40B4-BE49-F238E27FC236}">
                <a16:creationId xmlns:a16="http://schemas.microsoft.com/office/drawing/2014/main" id="{62D114E9-5F9E-A7F8-502F-943B43CF4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018" y="525780"/>
            <a:ext cx="1281062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BAGIAN B · LANGKAH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Cetak Report PDF Temuan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1371600"/>
            <a:ext cx="91440" cy="274320"/>
          </a:xfrm>
          <a:prstGeom prst="roundRect">
            <a:avLst>
              <a:gd name="adj" fmla="val 150000"/>
            </a:avLst>
          </a:prstGeom>
          <a:solidFill>
            <a:srgbClr val="15803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7160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58952" y="1371600"/>
            <a:ext cx="4846320" cy="384048"/>
          </a:xfrm>
          <a:prstGeom prst="roundRect">
            <a:avLst>
              <a:gd name="adj" fmla="val 47619"/>
            </a:avLst>
          </a:prstGeom>
          <a:solidFill>
            <a:srgbClr val="15803D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37160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PELAKU:  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Semua PIC (setelah temuan CLOSED)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1965960"/>
            <a:ext cx="420624" cy="42062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193852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Tombol "Cetak PDF (FM-BDK-011)" muncul di halaman temuan hanya saat status CLOSED.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2569464"/>
            <a:ext cx="420624" cy="42062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5694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254203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Klik tombol → report terbuka di tab baru, siap diunduh / dicetak.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22960" y="3172968"/>
            <a:ext cx="420624" cy="42062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1729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145536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Layout otomatis: Minor/Major = FM-BDK-010; PFI = FM-BDK-011.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22960" y="3776472"/>
            <a:ext cx="420624" cy="42062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7764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63040" y="37490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memuat data, akar masalah, tindakan, verifikasi, &amp; tanda tangan otomatis.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463040" y="4078224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Tanda tangan diambil dari profil user (jika sudah diunggah).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7240" y="5623560"/>
            <a:ext cx="10652760" cy="65836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623560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Catatan:  </a:t>
            </a:r>
            <a:r>
              <a:rPr lang="en-US" sz="11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hanya tersedia setelah temuan closed — memastikan seluruh proses verifikasi sudah tuntas.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1000" dirty="0"/>
          </a:p>
        </p:txBody>
      </p:sp>
      <p:pic>
        <p:nvPicPr>
          <p:cNvPr id="28" name="Image 0" descr="C:\Users\itbti\iso-dms\iso-app\public\bti_logo_hires.png">
            <a:extLst>
              <a:ext uri="{FF2B5EF4-FFF2-40B4-BE49-F238E27FC236}">
                <a16:creationId xmlns:a16="http://schemas.microsoft.com/office/drawing/2014/main" id="{7C97D05B-30C2-8498-0B4F-736D2854C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018" y="525780"/>
            <a:ext cx="1281062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FITUR BARU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Notifikasi &amp; Pengingat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1371600"/>
            <a:ext cx="91440" cy="274320"/>
          </a:xfrm>
          <a:prstGeom prst="roundRect">
            <a:avLst>
              <a:gd name="adj" fmla="val 150000"/>
            </a:avLst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71600"/>
            <a:ext cx="9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58952" y="1371600"/>
            <a:ext cx="4846320" cy="384048"/>
          </a:xfrm>
          <a:prstGeom prst="roundRect">
            <a:avLst>
              <a:gd name="adj" fmla="val 47619"/>
            </a:avLst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37160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PELAKU:  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Semua user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1965960"/>
            <a:ext cx="420624" cy="42062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965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193852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Setiap update yang menyangkut Anda memicu notifikasi otomatis.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63040" y="2267712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Mis. perlu approval/verifikasi Anda, temuan diminta revisi, atau temuan closed.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2862072"/>
            <a:ext cx="420624" cy="42062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8620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28346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Notifikasi muncul sebagai pop-up di pojok kanan bawah + badge pada lonceng 🔔.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463040" y="3163824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Badge menampilkan jumlah notifikasi yang belum dibaca.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3758184"/>
            <a:ext cx="420624" cy="42062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758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373075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Klik notifikasi → diarahkan ke halaman terkait &amp; otomatis ditandai dibaca.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22960" y="4361688"/>
            <a:ext cx="420624" cy="42062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3616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3040" y="4334256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Reminder WhatsApp: klik "Ingatkan via WhatsApp" untuk kirim pesan siap-kirim ke PIC giliran berikutnya.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463040" y="4663440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Gratis (via wa.me) — target menyesuaikan status temuan/jadwal.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5623560"/>
            <a:ext cx="10652760" cy="658368"/>
          </a:xfrm>
          <a:prstGeom prst="roundRect">
            <a:avLst>
              <a:gd name="adj" fmla="val 12500"/>
            </a:avLst>
          </a:prstGeom>
          <a:solidFill>
            <a:srgbClr val="F5F6F8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5623560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Catatan:  </a:t>
            </a:r>
            <a:r>
              <a:rPr lang="en-US" sz="11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Notifikasi in-app &amp; tombol WhatsApp aktif tanpa biaya. Pengiriman WA otomatis (Fonnte) opsional, diaktifkan admin bila diperlukan.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000" dirty="0"/>
          </a:p>
        </p:txBody>
      </p:sp>
      <p:pic>
        <p:nvPicPr>
          <p:cNvPr id="30" name="Image 0" descr="C:\Users\itbti\iso-dms\iso-app\public\bti_logo_hires.png">
            <a:extLst>
              <a:ext uri="{FF2B5EF4-FFF2-40B4-BE49-F238E27FC236}">
                <a16:creationId xmlns:a16="http://schemas.microsoft.com/office/drawing/2014/main" id="{CE4835E4-52E6-244A-C40B-64AED5210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018" y="525780"/>
            <a:ext cx="1281062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FITUR PENDUKUNG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Yang Memudahkan Proses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25400" dir="5400000" algn="bl" rotWithShape="0">
              <a:srgbClr val="BFC3CA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184708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91640" y="186537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Notifikasi In-App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4128" y="25603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Pop-up muncul di pojok kanan bawah + lonceng dengan badge jumlah belum dibaca setiap ada update yang relevan; klik → langsung ke halamannya.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25400" dir="5400000" algn="bl" rotWithShape="0">
              <a:srgbClr val="BFC3CA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37960" y="184708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223760" y="186537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Reminder WhatsApp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56248" y="25603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Tombol "Ingatkan via WhatsApp" di halaman temuan &amp; jadwal — membuka WA berisi pesan siap kirim ke PIC giliran berikutnya.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88620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25400" dir="5400000" algn="bl" rotWithShape="0">
              <a:srgbClr val="BFC3CA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05840" y="41788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91640" y="419709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Catatan Revisi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24128" y="48920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Saat temuan dikembalikan, banner kuning menampilkan catatan reviewer (Atasan/Auditor/Lead) ke auditee.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388620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88900" dist="25400" dir="5400000" algn="bl" rotWithShape="0">
              <a:srgbClr val="BFC3CA">
                <a:alpha val="3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37960" y="41788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E7490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223760" y="419709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Aktivitas / Riwayat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56248" y="48920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F46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Setiap aksi (buat, submit, approve, revisi, verifikasi, close) tercatat kronologis lengkap dengan nama &amp; waktu.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1000" dirty="0"/>
          </a:p>
        </p:txBody>
      </p:sp>
      <p:pic>
        <p:nvPicPr>
          <p:cNvPr id="29" name="Image 0" descr="C:\Users\itbti\iso-dms\iso-app\public\bti_logo_hires.png">
            <a:extLst>
              <a:ext uri="{FF2B5EF4-FFF2-40B4-BE49-F238E27FC236}">
                <a16:creationId xmlns:a16="http://schemas.microsoft.com/office/drawing/2014/main" id="{BC4E5629-E6F9-43A3-F8D3-1F5783436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018" y="525780"/>
            <a:ext cx="1281062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UNTUK ADMINISTRATOR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Pengaturan Pendukung (Admin)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10744200" cy="2999232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Menu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Untuk mengatur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Hak akses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 &amp; Permission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Izin audit.create — siapa boleh membuat jadwal &amp; temuan.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super_admin, QMR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Departments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Manager tiap departemen = Atasan/approver temuan auditee.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super_admin, QMR, Director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Departemen, role (mis. auditor), &amp; tanda tangan tiap user.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super_admin, QMR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4709160"/>
            <a:ext cx="10744200" cy="1005840"/>
          </a:xfrm>
          <a:prstGeom prst="roundRect">
            <a:avLst>
              <a:gd name="adj" fmla="val 8182"/>
            </a:avLst>
          </a:prstGeom>
          <a:solidFill>
            <a:srgbClr val="FBE9EA"/>
          </a:solidFill>
          <a:ln w="12700">
            <a:solidFill>
              <a:srgbClr val="E3AE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470916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Aturan emas:  </a:t>
            </a:r>
            <a:r>
              <a:rPr lang="en-US" sz="1200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agar approver otomatis terisi &amp; alur tidak macet — pastikan setiap Auditee punya Departemen, dan departemen punya Manager. Untuk pemisahan tugas, Atasan approver sebaiknya berbeda orang dengan Lead Auditor.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000" dirty="0"/>
          </a:p>
        </p:txBody>
      </p:sp>
      <p:pic>
        <p:nvPicPr>
          <p:cNvPr id="11" name="Image 0" descr="C:\Users\itbti\iso-dms\iso-app\public\bti_logo_hires.png">
            <a:extLst>
              <a:ext uri="{FF2B5EF4-FFF2-40B4-BE49-F238E27FC236}">
                <a16:creationId xmlns:a16="http://schemas.microsoft.com/office/drawing/2014/main" id="{A22B05D1-14FD-284D-722F-3C352EA75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018" y="525780"/>
            <a:ext cx="1281062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E243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1E243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2062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RANGKUMAN CEPAT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Siapa Klik Apa — Cheat Sheet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10744200" cy="4828032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Tahap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PIC / Peran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Aksi / Tombol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Buat jadwal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Auditor / Admin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B5121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Jadwal Baru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Approve jadwal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QMR / MR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B5121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Setujui / Tolak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Bagikan jadwal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 Control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B5121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Bagikan / Kirim Ulang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Buat temuan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Auditor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B5121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Tambah Temuan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Edit / hapus temuan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Auditor (sebelum auditee submit)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B5121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Edit / Hapus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Isi perbaikan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Auditee / PIC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B5121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Submit Tindakan Perbaikan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Approve perbaikan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Atasan (Manager)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B5121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Setujui / Minta Revisi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Verifikasi-1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Auditor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B5121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Verifikasi &amp; Lanjut ke Lead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Verifikasi final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Lead Auditor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B5121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Verified &amp; Closed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Cetak report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Semua (saat closed)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B5121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Cetak PDF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43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Ingatkan PIC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F465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Semua user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B5121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Ingatkan via WhatsApp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419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Panduan Pengguna — Modul Audit Internal</a:t>
            </a:r>
            <a:r>
              <a:rPr lang="en-US" sz="9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QMS BONECOM TRICOM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55680" y="6419088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4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1000" dirty="0"/>
          </a:p>
        </p:txBody>
      </p:sp>
      <p:pic>
        <p:nvPicPr>
          <p:cNvPr id="9" name="Image 0" descr="C:\Users\itbti\iso-dms\iso-app\public\bti_logo_hires.png">
            <a:extLst>
              <a:ext uri="{FF2B5EF4-FFF2-40B4-BE49-F238E27FC236}">
                <a16:creationId xmlns:a16="http://schemas.microsoft.com/office/drawing/2014/main" id="{EAF3C0F6-C193-1214-ECBF-AE2F76454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018" y="525780"/>
            <a:ext cx="1281062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121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5121B"/>
          </a:solidFill>
          <a:ln/>
        </p:spPr>
      </p:sp>
      <p:pic>
        <p:nvPicPr>
          <p:cNvPr id="5" name="Image 0" descr="C:\Users\itbti\iso-dms\iso-app\public\bti_logo_hi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22960"/>
            <a:ext cx="1554480" cy="9637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68680" y="34747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CC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Ikuti alur ini agar setiap audit terdokumentasi rapi — dari jadwal hingga temuan closed &amp; report PDF.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4572000"/>
            <a:ext cx="10515600" cy="1188720"/>
          </a:xfrm>
          <a:prstGeom prst="roundRect">
            <a:avLst>
              <a:gd name="adj" fmla="val 6923"/>
            </a:avLst>
          </a:prstGeom>
          <a:solidFill>
            <a:srgbClr val="242C3A"/>
          </a:solidFill>
          <a:ln w="12700">
            <a:solidFill>
              <a:srgbClr val="2E37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45720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B512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Butuh bantuan?  </a:t>
            </a:r>
            <a:r>
              <a:rPr lang="en-US" sz="1300" dirty="0">
                <a:solidFill>
                  <a:srgbClr val="C7CC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Hubungi tim IT / Document Control  ·  Akses sistem: </a:t>
            </a: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qms.bonecomtricom.net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4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QMS BONECOM TRICOM · Modul Audit Internal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2393</Words>
  <Application>Microsoft Office PowerPoint</Application>
  <PresentationFormat>Widescreen</PresentationFormat>
  <Paragraphs>412</Paragraphs>
  <Slides>24</Slides>
  <Notes>24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BONECOM TRICOM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Panduan Modul Audit Internal</dc:title>
  <dc:subject>PptxGenJS Presentation</dc:subject>
  <dc:creator>BONECOM TRICOM QMS</dc:creator>
  <cp:lastModifiedBy>BONECOM TRICOM</cp:lastModifiedBy>
  <cp:revision>4</cp:revision>
  <dcterms:created xsi:type="dcterms:W3CDTF">2026-07-14T03:15:45Z</dcterms:created>
  <dcterms:modified xsi:type="dcterms:W3CDTF">2026-07-14T06:03:14Z</dcterms:modified>
</cp:coreProperties>
</file>