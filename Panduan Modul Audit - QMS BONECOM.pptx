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32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242C3A"/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0"/>
            <a:ext cx="54864" cy="6858000"/>
          </a:xfrm>
          <a:prstGeom prst="rect">
            <a:avLst/>
          </a:prstGeom>
          <a:solidFill>
            <a:srgbClr val="B5121B"/>
          </a:solidFill>
          <a:ln/>
        </p:spPr>
      </p:sp>
      <p:pic>
        <p:nvPicPr>
          <p:cNvPr id="7" name="Image 0" descr="C:\Users\itbti\iso-dms\iso-app\public\bti_logo_h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737360" cy="10771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 · SISTEM MANAJEMEN MUTU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 Audit Internal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lengkap: penjadwalan audit, persetujuan, pembuatan &amp; penutupan temuan, serta peran tiap PIC (Auditor, Auditee, Lead Auditor, Atasan, Document Control, QMR).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qms.bonecomtricom.net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 rot="5400000">
            <a:off x="905256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3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TENTANG PANDUAN INI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 yang akan Anda pelajari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118872" cy="214884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89280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5740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Audit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057400" y="24688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jadwal, approval MR/QMR, dan pembagian oleh Document Control.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600200"/>
            <a:ext cx="118872" cy="2148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89280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92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8952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Audit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temuan, tindakan perbaikan, verifikasi berjenjang, hingga closed.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77640"/>
            <a:ext cx="118872" cy="2148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27024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270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057400" y="4361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tiap PIC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57400" y="48463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melakukan apa: Auditor, Auditee, Atasan, Lead Auditor, DC, QMR.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977640"/>
            <a:ext cx="118872" cy="2148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427024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270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589520" y="4361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&amp; Fitur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589520" y="48463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Cetak PDF (FM-BDK-010/011), log revisi, notifikasi, &amp; pengaturan admin.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pic>
        <p:nvPicPr>
          <p:cNvPr id="33" name="Image 0" descr="C:\Users\itbti\iso-dms\iso-app\public\bti_logo_hires.png">
            <a:extLst>
              <a:ext uri="{FF2B5EF4-FFF2-40B4-BE49-F238E27FC236}">
                <a16:creationId xmlns:a16="http://schemas.microsoft.com/office/drawing/2014/main" id="{A08FEA98-D3A7-196B-06B8-A2CD89784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MELAKUKAN APA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&amp; Tanggung Jawab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3520440" cy="9144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847088"/>
            <a:ext cx="566928" cy="56692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90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 audit &amp; verifikasi tahap-1 (Verifikasi &amp; Lanjut ke Lead).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554480"/>
            <a:ext cx="3520440" cy="91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1728" y="18470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766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/ PIC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Mengisi &amp; submit tindakan perbaikan atas temuan yang ditujukan padanya.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554480"/>
            <a:ext cx="3520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1847088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342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Atasan Auditee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departemen auditee — menyetujui tindakan perbaikan (Minor/Major).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94760"/>
            <a:ext cx="3520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" y="4087368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7190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41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Ketua tim audit — verifikasi final &amp; menutup (closed) temuan.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794760"/>
            <a:ext cx="3520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4087368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/>
          <p:nvPr/>
        </p:nvSpPr>
        <p:spPr>
          <a:xfrm>
            <a:off x="46817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766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817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Membagikan jadwal audit yang sudah disetujui ke seluruh auditee.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0" y="3794760"/>
            <a:ext cx="352044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9328" y="4087368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9" name="Text 37"/>
          <p:cNvSpPr/>
          <p:nvPr/>
        </p:nvSpPr>
        <p:spPr>
          <a:xfrm>
            <a:off x="83393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0342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QMR / MR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393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Representative — menyetujui / menolak jadwal audit.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pic>
        <p:nvPicPr>
          <p:cNvPr id="45" name="Image 0" descr="C:\Users\itbti\iso-dms\iso-app\public\bti_logo_hires.png">
            <a:extLst>
              <a:ext uri="{FF2B5EF4-FFF2-40B4-BE49-F238E27FC236}">
                <a16:creationId xmlns:a16="http://schemas.microsoft.com/office/drawing/2014/main" id="{2CA63830-8145-62D6-3556-B0748FE5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GAMBARAN MENYELURUH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Peta Alur Modul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Buat Jadwal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/ Admin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64024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02352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 / QMR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86016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2904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4344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Bagikan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24344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08008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54896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46336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46336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terima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24612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461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88920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Buat Temuan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80360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64024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9" name="Shape 27"/>
          <p:cNvSpPr/>
          <p:nvPr/>
        </p:nvSpPr>
        <p:spPr>
          <a:xfrm>
            <a:off x="5010912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Perbaikan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102352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2904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24344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24344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08008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7" name="Shape 35"/>
          <p:cNvSpPr/>
          <p:nvPr/>
        </p:nvSpPr>
        <p:spPr>
          <a:xfrm>
            <a:off x="9454896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46336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546336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89204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A7D8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8920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HASIL AKHIR   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temuan yang sudah </a:t>
            </a:r>
            <a:r>
              <a:rPr lang="en-US" sz="12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dapat dicetak menjadi report PDF resmi </a:t>
            </a: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FM-BDK-010 (Minor/Major)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atau </a:t>
            </a: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FM-BDK-011 (PFI).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pic>
        <p:nvPicPr>
          <p:cNvPr id="45" name="Image 0" descr="C:\Users\itbti\iso-dms\iso-app\public\bti_logo_hires.png">
            <a:extLst>
              <a:ext uri="{FF2B5EF4-FFF2-40B4-BE49-F238E27FC236}">
                <a16:creationId xmlns:a16="http://schemas.microsoft.com/office/drawing/2014/main" id="{05B713CF-7969-8809-B173-E352F3DF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B5121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352044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880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Audit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3977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Dari pembuatan jadwal, persetujuan Management Representative, hingga dibagikan Document Control ke seluruh auditee.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Jadwal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/ Admin (punya izin audit.create)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menu Audits → klik tombol "Jadwal Baru".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hanya tampil bagi user yang role-nya memiliki izin audit.create.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907792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 header jadwal (1× untuk seluruh jadwal): Periode, Standar, Tipe, Lead Auditor, Scope, Jadwal Opening/Closing.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baris per bagian: Departemen, tanggal, jam, Tim Auditor, Auditee (PIC), proses.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383133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baris menjadi satu Audit di dalam jadwal.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407408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7997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→ jadwal berstatus PENDING REVIEW, menunggu approval Management Representative.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tombol "Jadwal Baru" tidak muncul, minta admin mengaktifkan izin audit.create untuk role Anda di menu Role &amp; Permission.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04DFAA69-9FD2-8588-3252-3B2EEDEC2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Jadwal oleh MR / QMR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QMR / Management Representative (atau super_admin)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jadwal berstatus Pending Review dari daftar Audit / Approval.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15184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15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Tinjau isi jadwal (periode, lead auditor, tim, auditee, tanggal).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SETUJUI untuk menyetujui → status menjadi APPROVED, atau TOLAK bila perlu revisi.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5387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QMR / super_admin yang dapat menyetujui jadwal.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yang sudah approved siap dibagikan oleh Document Control.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Selama masih Pending Review, jadwal masih dapat diedit oleh pembuatnya sebelum disetujui.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3ACA9C48-3FE5-0D29-7BD2-75951C70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Membagikan Jadwal — Document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 (atau super_admin)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jadwal berstatus Approved.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15184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15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BAGIKAN → sistem mengirim email pemberitahuan ke seluruh auditee &amp; tim terkait.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293522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jadwal berubah menjadi SHARED.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KIRIM ULANG bila ada perubahan atau email perlu dikirim kembali.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juga dapat dicetak PDF (FM-BDK-07) melalui Preview PDF.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Document Control / super_admin yang dapat membagikan &amp; mengirim ulang jadwal.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66DA6BBD-EF23-F772-9C84-AD73EA78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RINGKASAN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&amp; Status Jadwal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Dibuat, menunggu approval MR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04488" y="2926080"/>
            <a:ext cx="329184" cy="27432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Disetujui QMR / MR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3488" y="2926080"/>
            <a:ext cx="329184" cy="27432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DCFCE7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Dibagikan Document Control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Alternatif: REJECTED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MR menolak jadwal, status menjadi Rejected. Pembuat memperbaiki jadwal lalu mengajukan kembali untuk approval.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pic>
        <p:nvPicPr>
          <p:cNvPr id="23" name="Image 0" descr="C:\Users\itbti\iso-dms\iso-app\public\bti_logo_hires.png">
            <a:extLst>
              <a:ext uri="{FF2B5EF4-FFF2-40B4-BE49-F238E27FC236}">
                <a16:creationId xmlns:a16="http://schemas.microsoft.com/office/drawing/2014/main" id="{7CB470CA-59F8-B448-20C3-D5025D6D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352044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880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Audit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3977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temuan, mengisi tindakan perbaikan, verifikasi berjenjang oleh Atasan → Auditor → Lead Auditor, hingga temuan ditutup (closed).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(Lead Auditor atau anggota Tim Audit)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audit terkait → klik "Tambah Temuan".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hanya untuk auditor audit tersebut (lead atau tim).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90779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Kategori (WAJIB): PFI, Minor NC, atau Major NC. Isi Klausul (WAJIB).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Tulis Deskripsi temuan, pilih PIC Auditee, tentukan Due Date, lampirkan evidence.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383133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Auditee = orang yang berhak mengisi tindakan perbaikan.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407408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7997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→ temuan berstatus OPEN, menunggu tindakan perbaikan dari Auditee.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Kategori &amp; Klausul wajib diisi. PIC Auditee yang dipilih menentukan siapa yang boleh mengisi perbaikan.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3E90E447-E395-2F07-C622-003EFA78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PENTING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PFI vs Minor / Major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4224528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PFI (Opportunity)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Minor / Major NC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1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Sifat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Saran perbaikan (peluang)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Ketidaksesuaian yang wajib dikoreksi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Analysis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 (3–5 akar masalah)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Action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Atasan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 (Manager auditee)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Alur setelah submit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Langsung ke Verifikasi Auditor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Atasan → Verifikasi Auditor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PDF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FM-BDK-011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FM-BDK-010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pic>
        <p:nvPicPr>
          <p:cNvPr id="9" name="Image 0" descr="C:\Users\itbti\iso-dms\iso-app\public\bti_logo_hires.png">
            <a:extLst>
              <a:ext uri="{FF2B5EF4-FFF2-40B4-BE49-F238E27FC236}">
                <a16:creationId xmlns:a16="http://schemas.microsoft.com/office/drawing/2014/main" id="{91F60356-506E-5774-8E66-84BF9DBE3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Mengisi Tindakan Perbaikan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/ PIC (pemilik temuan)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halaman temuan → panel "Tindakan Perbaikan".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PIC Auditee yang dapat mengisi &amp; submit (yang lain read-only).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90779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PFI: cukup isi Corrective Action + evidence → submit.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Minor/Major: isi Root Cause (3–5) + Corrective Action + Preventive Action + evidence.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PFI langsung ke Verifikasi Auditor; Minor/Major ke Approval Atasan.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dikembalikan, baca banner "Catatan Revisi" lalu submit ulang.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hanya bisa diisi saat status Open / In Progress / Rejected. Setelah disubmit menjadi read-only.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73F517F1-371D-848C-5C94-90575177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3 (MINOR/MAJOR)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Atasan Auditee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Atasan Auditee = Manager departemen auditee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Minor/Major yang disubmit masuk status WAITING APPROVAL.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 otomatis = Manager departemen si auditee.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90779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temuan → panel Approval → tinjau root cause &amp; tindakan perbaikan.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511296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SETUJUI → lanjut ke Verifikasi Auditor.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dengan catatan → temuan kembali ke Auditee (In Progress).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revisi otomatis tampil ke auditee.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Agar approver terisi, pastikan Auditee punya Departemen dan departemen tsb punya Manager (menu Departments).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415684BD-BE0A-1970-D5E3-74D8AA4D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Auditor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pembuat temuan (fallback: Lead Auditor)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Setelah disetujui, temuan masuk WAITING AUDITOR VERIFICATION.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15184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15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meninjau bukti perbaikan yang diunggah auditee.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"VERIFIKASI &amp; LANJUT KE LEAD" → status WAITING VERIFICATION (Lead).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382219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22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94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dengan catatan → kembali ke Auditee untuk diperbaiki.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ini konfirmasi lapangan oleh auditor sebelum keputusan akhir Lead Auditor.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pic>
        <p:nvPicPr>
          <p:cNvPr id="27" name="Image 0" descr="C:\Users\itbti\iso-dms\iso-app\public\bti_logo_hires.png">
            <a:extLst>
              <a:ext uri="{FF2B5EF4-FFF2-40B4-BE49-F238E27FC236}">
                <a16:creationId xmlns:a16="http://schemas.microsoft.com/office/drawing/2014/main" id="{F45D88FC-3A75-A123-4C28-27DE78F9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Lead Auditor → Closed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 (Audit Team Leader)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berstatus WAITING VERIFICATION masuk ke Lead Auditor.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15184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15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Tinjau keseluruhan: temuan, akar masalah, perbaikan, &amp; verifikasi auditor.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"VERIFIED &amp; CLOSED" → temuan resmi CLOSED.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5387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 keputusan akhir; temuan dianggap selesai.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bila belum memadai → kembali ke Auditee.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Idealnya Atasan (approver) dan Lead Auditor adalah orang berbeda demi pemisahan tugas.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75FDB99A-C2CE-CBAF-F9C0-930343F1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RINGKASAN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&amp; Status Temuan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dibuat auditor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347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mengisi perbaikan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APPROVAL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Atasan (Minor/Major)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AUDITOR VERIF.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963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Auditor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442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VERIFICATION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271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Lead Auditor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DCFCE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750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6579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 &amp; bisa cetak PDF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065276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 setiap tahap verifikasi/approval tersedia tombol "Minta Revisi".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720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2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Minta Revisi </a:t>
            </a: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mengembalikan temuan ke status In Progress dengan catatan alasan yang otomatis tampil ke auditee (banner Catatan Revisi).
</a:t>
            </a:r>
            <a:r>
              <a:rPr lang="en-US" sz="1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2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</a:t>
            </a: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menandai temuan Rejected. Semua aksi tercatat pada Log Aktivitas / Riwayat Revisi.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pic>
        <p:nvPicPr>
          <p:cNvPr id="35" name="Image 0" descr="C:\Users\itbti\iso-dms\iso-app\public\bti_logo_hires.png">
            <a:extLst>
              <a:ext uri="{FF2B5EF4-FFF2-40B4-BE49-F238E27FC236}">
                <a16:creationId xmlns:a16="http://schemas.microsoft.com/office/drawing/2014/main" id="{6E4F5DFA-AD18-C4E1-D3B8-7196D9C62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Cetak Report PDF Temuan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PIC (setelah temuan CLOSED)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"Cetak PDF (FM-BDK-011)" muncul di halaman temuan hanya saat status CLOSED.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15184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15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87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tombol → report terbuka di tab baru, siap diunduh / dicetak.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18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91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otomatis: Minor/Major = FM-BDK-010; PFI = FM-BDK-011.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3822192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22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94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memuat data, akar masalah, tindakan, verifikasi, &amp; tanda tangan otomatis.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63040" y="414223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Tanda tangan diambil dari profil user (jika sudah diunggah).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hanya tersedia setelah temuan closed — memastikan seluruh proses verifikasi sudah tuntas.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B9DA636E-1B60-7AD8-2530-5969A9399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PENDUKUNG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 Memudahkan Proses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847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865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Revisi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 temuan dikembalikan, banner kuning menampilkan catatan reviewer (Atasan/Auditor/Lead) ke auditee.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47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865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Aktivitas / Riwayat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6248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aksi (buat, submit, approve, revisi, verifikasi, close) tercatat kronologis lengkap dengan nama &amp; waktu.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197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Email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Permintaan approval dikirim otomatis ke atasan; jadwal dibagikan via email ke auditee.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5121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4197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 Akses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6248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&amp; aksi menyesuaikan peran: auditor, auditee, atasan, lead — mencegah aksi oleh pihak yang tidak berhak.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59439667-4A8C-8FD3-5BF0-B56AA921D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ADMINISTRATOR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Pengaturan Pendukung (Admin)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44200" cy="299923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Untuk mengatur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Hak akses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Permission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Izin audit.create — siapa boleh membuat jadwal &amp; temuan.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Manager tiap departemen = Atasan/approver temuan auditee.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QMR, Director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Departemen, role (mis. auditor), &amp; tanda tangan tiap user.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709160"/>
            <a:ext cx="10744200" cy="1005840"/>
          </a:xfrm>
          <a:prstGeom prst="roundRect">
            <a:avLst>
              <a:gd name="adj" fmla="val 8182"/>
            </a:avLst>
          </a:prstGeom>
          <a:solidFill>
            <a:srgbClr val="FBE9EA"/>
          </a:solidFill>
          <a:ln w="12700">
            <a:solidFill>
              <a:srgbClr val="E3A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7091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emas:  </a:t>
            </a:r>
            <a:r>
              <a:rPr lang="en-US" sz="1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agar approver otomatis terisi &amp; alur tidak macet — pastikan setiap Auditee punya Departemen, dan departemen punya Manager. Untuk pemisahan tugas, Atasan approver sebaiknya berbeda orang dengan Lead Auditor.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pic>
        <p:nvPicPr>
          <p:cNvPr id="11" name="Image 0" descr="C:\Users\itbti\iso-dms\iso-app\public\bti_logo_hires.png">
            <a:extLst>
              <a:ext uri="{FF2B5EF4-FFF2-40B4-BE49-F238E27FC236}">
                <a16:creationId xmlns:a16="http://schemas.microsoft.com/office/drawing/2014/main" id="{9D6F028D-C285-5E1C-D699-29C50D7D3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RANGKUMAN CEPAT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Klik Apa — Cheat Sheet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Tahap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 / Peran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Aksi / Tombol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jadwal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 / 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Jadwal Baru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 jadwal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QMR / MR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Setujui / Tolak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jadwal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Control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/ Kirim Ulang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temuan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Temuan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Isi perbaikan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Auditee / PIC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Tindakan Perbaikan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 perbaikan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Atasan (Manager)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Setujui / Minta Revisi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Verifikasi-1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 &amp; Lanjut ke Lead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 final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 Auditor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Verified &amp; Closed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Cetak report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(saat closed)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Cetak 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pic>
        <p:nvPicPr>
          <p:cNvPr id="9" name="Image 0" descr="C:\Users\itbti\iso-dms\iso-app\public\bti_logo_hires.png">
            <a:extLst>
              <a:ext uri="{FF2B5EF4-FFF2-40B4-BE49-F238E27FC236}">
                <a16:creationId xmlns:a16="http://schemas.microsoft.com/office/drawing/2014/main" id="{997B2D25-9DD9-3070-9369-3224D1236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595" y="452714"/>
            <a:ext cx="93672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5121B"/>
          </a:solidFill>
          <a:ln/>
        </p:spPr>
      </p:sp>
      <p:pic>
        <p:nvPicPr>
          <p:cNvPr id="5" name="Image 0" descr="C:\Users\itbti\iso-dms\iso-app\public\bti_logo_h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1554480" cy="9637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Ikuti alur ini agar setiap audit terdokumentasi rapi — dari jadwal hingga temuan closed &amp; report PDF.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242C3A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72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Butuh bantuan?  </a:t>
            </a:r>
            <a:r>
              <a:rPr lang="en-US" sz="13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Hubungi tim IT / Document Control  ·  Akses sistem: </a:t>
            </a: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qms.bonecomtricom.net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 BONECOM TRICOM · Modul Audit Internal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2085</Words>
  <Application>Microsoft Office PowerPoint</Application>
  <PresentationFormat>Widescreen</PresentationFormat>
  <Paragraphs>367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BONECOM TRICOM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Modul Audit Internal</dc:title>
  <dc:subject>PptxGenJS Presentation</dc:subject>
  <dc:creator>BONECOM TRICOM QMS</dc:creator>
  <cp:lastModifiedBy>BONECOM TRICOM</cp:lastModifiedBy>
  <cp:revision>2</cp:revision>
  <dcterms:created xsi:type="dcterms:W3CDTF">2026-07-13T11:20:01Z</dcterms:created>
  <dcterms:modified xsi:type="dcterms:W3CDTF">2026-07-14T00:22:16Z</dcterms:modified>
</cp:coreProperties>
</file>